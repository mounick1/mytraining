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5E1221-16D5-4DFE-A1D6-D20DE85AA5A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6CB1D6-A1E6-4D2C-98BB-91EC8D083638}">
      <dgm:prSet/>
      <dgm:spPr/>
      <dgm:t>
        <a:bodyPr/>
        <a:lstStyle/>
        <a:p>
          <a:r>
            <a:rPr lang="en-US"/>
            <a:t>Unlike your laptop that uses bits that are either 0 or 1, quantum computers use qubits. </a:t>
          </a:r>
        </a:p>
      </dgm:t>
    </dgm:pt>
    <dgm:pt modelId="{BC32DA53-CBA7-4711-90CD-87D8E9E5F1D6}" type="parTrans" cxnId="{66456BDD-AB72-4628-83B8-A9A5C52F20B4}">
      <dgm:prSet/>
      <dgm:spPr/>
      <dgm:t>
        <a:bodyPr/>
        <a:lstStyle/>
        <a:p>
          <a:endParaRPr lang="en-US"/>
        </a:p>
      </dgm:t>
    </dgm:pt>
    <dgm:pt modelId="{1F690394-4F4A-44A3-AAF0-5D5FAD837FA2}" type="sibTrans" cxnId="{66456BDD-AB72-4628-83B8-A9A5C52F20B4}">
      <dgm:prSet/>
      <dgm:spPr/>
      <dgm:t>
        <a:bodyPr/>
        <a:lstStyle/>
        <a:p>
          <a:endParaRPr lang="en-US"/>
        </a:p>
      </dgm:t>
    </dgm:pt>
    <dgm:pt modelId="{C9CC8B30-CEE2-4B75-A275-E4183924F503}">
      <dgm:prSet/>
      <dgm:spPr/>
      <dgm:t>
        <a:bodyPr/>
        <a:lstStyle/>
        <a:p>
          <a:r>
            <a:rPr lang="en-US" dirty="0"/>
            <a:t>Two weird quantum rules make qubits powerful:</a:t>
          </a:r>
        </a:p>
      </dgm:t>
    </dgm:pt>
    <dgm:pt modelId="{D53C4068-8B5C-4898-9782-94B70EC75ABF}" type="parTrans" cxnId="{8FCEF815-0F0D-414E-92D2-C6712A271C63}">
      <dgm:prSet/>
      <dgm:spPr/>
      <dgm:t>
        <a:bodyPr/>
        <a:lstStyle/>
        <a:p>
          <a:endParaRPr lang="en-US"/>
        </a:p>
      </dgm:t>
    </dgm:pt>
    <dgm:pt modelId="{2968C6EA-990C-486C-904D-99ACCD59527D}" type="sibTrans" cxnId="{8FCEF815-0F0D-414E-92D2-C6712A271C63}">
      <dgm:prSet/>
      <dgm:spPr/>
      <dgm:t>
        <a:bodyPr/>
        <a:lstStyle/>
        <a:p>
          <a:endParaRPr lang="en-US"/>
        </a:p>
      </dgm:t>
    </dgm:pt>
    <dgm:pt modelId="{74E7A257-CABB-48E9-BCB2-71667514AB05}">
      <dgm:prSet/>
      <dgm:spPr/>
      <dgm:t>
        <a:bodyPr/>
        <a:lstStyle/>
        <a:p>
          <a:r>
            <a:rPr lang="en-US" dirty="0"/>
            <a:t>Superposition: A qubit can be 0, 1, or both at the same time. So a quantum computer can try many paths simultaneously instead of one-by-one</a:t>
          </a:r>
        </a:p>
      </dgm:t>
    </dgm:pt>
    <dgm:pt modelId="{6955D023-1C11-45AD-B48F-29F7C11A466F}" type="parTrans" cxnId="{FA8474AB-8577-4FDB-859B-02E1CDA87DAA}">
      <dgm:prSet/>
      <dgm:spPr/>
      <dgm:t>
        <a:bodyPr/>
        <a:lstStyle/>
        <a:p>
          <a:endParaRPr lang="en-US"/>
        </a:p>
      </dgm:t>
    </dgm:pt>
    <dgm:pt modelId="{51E9625C-3FF9-4A0E-9786-085EFE07F238}" type="sibTrans" cxnId="{FA8474AB-8577-4FDB-859B-02E1CDA87DAA}">
      <dgm:prSet/>
      <dgm:spPr/>
      <dgm:t>
        <a:bodyPr/>
        <a:lstStyle/>
        <a:p>
          <a:endParaRPr lang="en-US"/>
        </a:p>
      </dgm:t>
    </dgm:pt>
    <dgm:pt modelId="{6843E933-254A-464C-9E72-007BD3FEB0F1}">
      <dgm:prSet/>
      <dgm:spPr/>
      <dgm:t>
        <a:bodyPr/>
        <a:lstStyle/>
        <a:p>
          <a:r>
            <a:rPr lang="en-US" dirty="0"/>
            <a:t>Entanglement: Qubits can be linked so changing one instantly affects another, letting the computer act on all particles at once</a:t>
          </a:r>
        </a:p>
      </dgm:t>
    </dgm:pt>
    <dgm:pt modelId="{052F7E3F-1D9F-4C37-9A1D-FF9129A77606}" type="parTrans" cxnId="{0EFEC444-4B94-4A29-BDE8-36FD2490DA47}">
      <dgm:prSet/>
      <dgm:spPr/>
      <dgm:t>
        <a:bodyPr/>
        <a:lstStyle/>
        <a:p>
          <a:endParaRPr lang="en-US"/>
        </a:p>
      </dgm:t>
    </dgm:pt>
    <dgm:pt modelId="{D748AF4A-3B3A-413A-BFA0-129D145B9860}" type="sibTrans" cxnId="{0EFEC444-4B94-4A29-BDE8-36FD2490DA47}">
      <dgm:prSet/>
      <dgm:spPr/>
      <dgm:t>
        <a:bodyPr/>
        <a:lstStyle/>
        <a:p>
          <a:endParaRPr lang="en-US"/>
        </a:p>
      </dgm:t>
    </dgm:pt>
    <dgm:pt modelId="{EFA18620-9F5A-44A9-924D-81BAB8394C13}">
      <dgm:prSet/>
      <dgm:spPr/>
      <dgm:t>
        <a:bodyPr/>
        <a:lstStyle/>
        <a:p>
          <a:r>
            <a:rPr lang="en-US"/>
            <a:t>bcc8199919c3</a:t>
          </a:r>
        </a:p>
      </dgm:t>
    </dgm:pt>
    <dgm:pt modelId="{725738A3-F359-410D-9A46-28AA6003322F}" type="parTrans" cxnId="{721F579F-43C4-436A-86C3-5459AE3A2471}">
      <dgm:prSet/>
      <dgm:spPr/>
      <dgm:t>
        <a:bodyPr/>
        <a:lstStyle/>
        <a:p>
          <a:endParaRPr lang="en-US"/>
        </a:p>
      </dgm:t>
    </dgm:pt>
    <dgm:pt modelId="{C0EA3497-0D28-49CC-9347-4D44C2B2A8C5}" type="sibTrans" cxnId="{721F579F-43C4-436A-86C3-5459AE3A2471}">
      <dgm:prSet/>
      <dgm:spPr/>
      <dgm:t>
        <a:bodyPr/>
        <a:lstStyle/>
        <a:p>
          <a:endParaRPr lang="en-US"/>
        </a:p>
      </dgm:t>
    </dgm:pt>
    <dgm:pt modelId="{9F16942E-0CF0-4164-B0FC-DEEDBD99119C}">
      <dgm:prSet/>
      <dgm:spPr/>
      <dgm:t>
        <a:bodyPr/>
        <a:lstStyle/>
        <a:p>
          <a:r>
            <a:rPr lang="en-US"/>
            <a:t>Analogy: A classical computer solving a maze tries one path at a time. A quantum computer tries many paths in parallel.</a:t>
          </a:r>
        </a:p>
      </dgm:t>
    </dgm:pt>
    <dgm:pt modelId="{4A2120AB-D260-400B-9CD1-4A8F1AD959FA}" type="parTrans" cxnId="{209C86A4-5BC1-44B9-BABF-A148AE07B747}">
      <dgm:prSet/>
      <dgm:spPr/>
      <dgm:t>
        <a:bodyPr/>
        <a:lstStyle/>
        <a:p>
          <a:endParaRPr lang="en-US"/>
        </a:p>
      </dgm:t>
    </dgm:pt>
    <dgm:pt modelId="{D2F030DE-EAA8-4177-8D29-CBA7F897D391}" type="sibTrans" cxnId="{209C86A4-5BC1-44B9-BABF-A148AE07B747}">
      <dgm:prSet/>
      <dgm:spPr/>
      <dgm:t>
        <a:bodyPr/>
        <a:lstStyle/>
        <a:p>
          <a:endParaRPr lang="en-US"/>
        </a:p>
      </dgm:t>
    </dgm:pt>
    <dgm:pt modelId="{FDA50ED1-C61D-423E-8965-9E7A4A4FBF71}">
      <dgm:prSet/>
      <dgm:spPr/>
      <dgm:t>
        <a:bodyPr/>
        <a:lstStyle/>
        <a:p>
          <a:r>
            <a:rPr lang="en-US" dirty="0"/>
            <a:t>Important: Quantum computers aren’t general-purpose replacements. They’re specialized co-processors for specific high-complexity problems. </a:t>
          </a:r>
        </a:p>
      </dgm:t>
    </dgm:pt>
    <dgm:pt modelId="{7538B0F3-25F5-4B68-8A44-C8912EA80537}" type="parTrans" cxnId="{240B71CC-2CD0-4626-95E2-8039EA03BDAC}">
      <dgm:prSet/>
      <dgm:spPr/>
      <dgm:t>
        <a:bodyPr/>
        <a:lstStyle/>
        <a:p>
          <a:endParaRPr lang="en-US"/>
        </a:p>
      </dgm:t>
    </dgm:pt>
    <dgm:pt modelId="{F65AC69B-F8F4-4EDD-91AD-26B6703AA0E2}" type="sibTrans" cxnId="{240B71CC-2CD0-4626-95E2-8039EA03BDAC}">
      <dgm:prSet/>
      <dgm:spPr/>
      <dgm:t>
        <a:bodyPr/>
        <a:lstStyle/>
        <a:p>
          <a:endParaRPr lang="en-US"/>
        </a:p>
      </dgm:t>
    </dgm:pt>
    <dgm:pt modelId="{8659B400-616F-4060-A4A0-8E84E8E3D5BC}" type="pres">
      <dgm:prSet presAssocID="{325E1221-16D5-4DFE-A1D6-D20DE85AA5A0}" presName="Name0" presStyleCnt="0">
        <dgm:presLayoutVars>
          <dgm:dir/>
          <dgm:resizeHandles val="exact"/>
        </dgm:presLayoutVars>
      </dgm:prSet>
      <dgm:spPr/>
    </dgm:pt>
    <dgm:pt modelId="{E2ADF973-8A21-4559-8059-6851F6A6B642}" type="pres">
      <dgm:prSet presAssocID="{5D6CB1D6-A1E6-4D2C-98BB-91EC8D083638}" presName="node" presStyleLbl="node1" presStyleIdx="0" presStyleCnt="7">
        <dgm:presLayoutVars>
          <dgm:bulletEnabled val="1"/>
        </dgm:presLayoutVars>
      </dgm:prSet>
      <dgm:spPr/>
    </dgm:pt>
    <dgm:pt modelId="{BF65D9E1-CD61-45FA-B6DC-7BC6A77CD703}" type="pres">
      <dgm:prSet presAssocID="{1F690394-4F4A-44A3-AAF0-5D5FAD837FA2}" presName="sibTrans" presStyleLbl="sibTrans1D1" presStyleIdx="0" presStyleCnt="6"/>
      <dgm:spPr/>
    </dgm:pt>
    <dgm:pt modelId="{6E0B9936-E51F-4041-8700-9295C3E1BE88}" type="pres">
      <dgm:prSet presAssocID="{1F690394-4F4A-44A3-AAF0-5D5FAD837FA2}" presName="connectorText" presStyleLbl="sibTrans1D1" presStyleIdx="0" presStyleCnt="6"/>
      <dgm:spPr/>
    </dgm:pt>
    <dgm:pt modelId="{2F656CE1-74A8-4546-9019-BDA6353EAB87}" type="pres">
      <dgm:prSet presAssocID="{C9CC8B30-CEE2-4B75-A275-E4183924F503}" presName="node" presStyleLbl="node1" presStyleIdx="1" presStyleCnt="7">
        <dgm:presLayoutVars>
          <dgm:bulletEnabled val="1"/>
        </dgm:presLayoutVars>
      </dgm:prSet>
      <dgm:spPr/>
    </dgm:pt>
    <dgm:pt modelId="{0FCE6414-8F01-4FD2-A41B-DE604076469C}" type="pres">
      <dgm:prSet presAssocID="{2968C6EA-990C-486C-904D-99ACCD59527D}" presName="sibTrans" presStyleLbl="sibTrans1D1" presStyleIdx="1" presStyleCnt="6"/>
      <dgm:spPr/>
    </dgm:pt>
    <dgm:pt modelId="{7C4542DC-5BE4-4285-BE70-A4E4916ABF6E}" type="pres">
      <dgm:prSet presAssocID="{2968C6EA-990C-486C-904D-99ACCD59527D}" presName="connectorText" presStyleLbl="sibTrans1D1" presStyleIdx="1" presStyleCnt="6"/>
      <dgm:spPr/>
    </dgm:pt>
    <dgm:pt modelId="{FDE99334-F9FC-43ED-B6F2-BDA6AE5AC43E}" type="pres">
      <dgm:prSet presAssocID="{74E7A257-CABB-48E9-BCB2-71667514AB05}" presName="node" presStyleLbl="node1" presStyleIdx="2" presStyleCnt="7">
        <dgm:presLayoutVars>
          <dgm:bulletEnabled val="1"/>
        </dgm:presLayoutVars>
      </dgm:prSet>
      <dgm:spPr/>
    </dgm:pt>
    <dgm:pt modelId="{1CBDD1AC-601B-4E8F-B5E3-6C2F0C3010C8}" type="pres">
      <dgm:prSet presAssocID="{51E9625C-3FF9-4A0E-9786-085EFE07F238}" presName="sibTrans" presStyleLbl="sibTrans1D1" presStyleIdx="2" presStyleCnt="6"/>
      <dgm:spPr/>
    </dgm:pt>
    <dgm:pt modelId="{762006C7-E11E-415A-93D7-708BEBAFB518}" type="pres">
      <dgm:prSet presAssocID="{51E9625C-3FF9-4A0E-9786-085EFE07F238}" presName="connectorText" presStyleLbl="sibTrans1D1" presStyleIdx="2" presStyleCnt="6"/>
      <dgm:spPr/>
    </dgm:pt>
    <dgm:pt modelId="{A178DADE-4035-4BFE-88A3-D8C37BF8D51F}" type="pres">
      <dgm:prSet presAssocID="{6843E933-254A-464C-9E72-007BD3FEB0F1}" presName="node" presStyleLbl="node1" presStyleIdx="3" presStyleCnt="7">
        <dgm:presLayoutVars>
          <dgm:bulletEnabled val="1"/>
        </dgm:presLayoutVars>
      </dgm:prSet>
      <dgm:spPr/>
    </dgm:pt>
    <dgm:pt modelId="{6A573041-9064-4DB7-8BF5-ADE39A61F0F2}" type="pres">
      <dgm:prSet presAssocID="{D748AF4A-3B3A-413A-BFA0-129D145B9860}" presName="sibTrans" presStyleLbl="sibTrans1D1" presStyleIdx="3" presStyleCnt="6"/>
      <dgm:spPr/>
    </dgm:pt>
    <dgm:pt modelId="{9D544CC9-8467-4A47-8C0C-1DA43FC95F54}" type="pres">
      <dgm:prSet presAssocID="{D748AF4A-3B3A-413A-BFA0-129D145B9860}" presName="connectorText" presStyleLbl="sibTrans1D1" presStyleIdx="3" presStyleCnt="6"/>
      <dgm:spPr/>
    </dgm:pt>
    <dgm:pt modelId="{5A7CFB7A-6D8C-4694-8200-B4BDCC1FB568}" type="pres">
      <dgm:prSet presAssocID="{EFA18620-9F5A-44A9-924D-81BAB8394C13}" presName="node" presStyleLbl="node1" presStyleIdx="4" presStyleCnt="7">
        <dgm:presLayoutVars>
          <dgm:bulletEnabled val="1"/>
        </dgm:presLayoutVars>
      </dgm:prSet>
      <dgm:spPr/>
    </dgm:pt>
    <dgm:pt modelId="{A0B07579-D8DC-49B4-BB10-2CE0CA7AB5F3}" type="pres">
      <dgm:prSet presAssocID="{C0EA3497-0D28-49CC-9347-4D44C2B2A8C5}" presName="sibTrans" presStyleLbl="sibTrans1D1" presStyleIdx="4" presStyleCnt="6"/>
      <dgm:spPr/>
    </dgm:pt>
    <dgm:pt modelId="{D926CDF6-F258-490F-BB94-26D80D4F599D}" type="pres">
      <dgm:prSet presAssocID="{C0EA3497-0D28-49CC-9347-4D44C2B2A8C5}" presName="connectorText" presStyleLbl="sibTrans1D1" presStyleIdx="4" presStyleCnt="6"/>
      <dgm:spPr/>
    </dgm:pt>
    <dgm:pt modelId="{10D6D140-3BED-4A70-904E-AD4CCE12C7BB}" type="pres">
      <dgm:prSet presAssocID="{9F16942E-0CF0-4164-B0FC-DEEDBD99119C}" presName="node" presStyleLbl="node1" presStyleIdx="5" presStyleCnt="7">
        <dgm:presLayoutVars>
          <dgm:bulletEnabled val="1"/>
        </dgm:presLayoutVars>
      </dgm:prSet>
      <dgm:spPr/>
    </dgm:pt>
    <dgm:pt modelId="{832C12F1-D14C-4168-8D9A-E466F864ECC4}" type="pres">
      <dgm:prSet presAssocID="{D2F030DE-EAA8-4177-8D29-CBA7F897D391}" presName="sibTrans" presStyleLbl="sibTrans1D1" presStyleIdx="5" presStyleCnt="6"/>
      <dgm:spPr/>
    </dgm:pt>
    <dgm:pt modelId="{9BCE20F8-EC0D-4C33-AB99-26B7DAA124B1}" type="pres">
      <dgm:prSet presAssocID="{D2F030DE-EAA8-4177-8D29-CBA7F897D391}" presName="connectorText" presStyleLbl="sibTrans1D1" presStyleIdx="5" presStyleCnt="6"/>
      <dgm:spPr/>
    </dgm:pt>
    <dgm:pt modelId="{C28B5375-F1DD-4A44-9FEB-0B3EFF0ADD3B}" type="pres">
      <dgm:prSet presAssocID="{FDA50ED1-C61D-423E-8965-9E7A4A4FBF71}" presName="node" presStyleLbl="node1" presStyleIdx="6" presStyleCnt="7">
        <dgm:presLayoutVars>
          <dgm:bulletEnabled val="1"/>
        </dgm:presLayoutVars>
      </dgm:prSet>
      <dgm:spPr/>
    </dgm:pt>
  </dgm:ptLst>
  <dgm:cxnLst>
    <dgm:cxn modelId="{C5EFB70C-AE56-4006-97D4-53CF173CFDA4}" type="presOf" srcId="{6843E933-254A-464C-9E72-007BD3FEB0F1}" destId="{A178DADE-4035-4BFE-88A3-D8C37BF8D51F}" srcOrd="0" destOrd="0" presId="urn:microsoft.com/office/officeart/2016/7/layout/RepeatingBendingProcessNew"/>
    <dgm:cxn modelId="{8FCEF815-0F0D-414E-92D2-C6712A271C63}" srcId="{325E1221-16D5-4DFE-A1D6-D20DE85AA5A0}" destId="{C9CC8B30-CEE2-4B75-A275-E4183924F503}" srcOrd="1" destOrd="0" parTransId="{D53C4068-8B5C-4898-9782-94B70EC75ABF}" sibTransId="{2968C6EA-990C-486C-904D-99ACCD59527D}"/>
    <dgm:cxn modelId="{6C1F6029-50A0-4921-BB12-171FFFC8E154}" type="presOf" srcId="{325E1221-16D5-4DFE-A1D6-D20DE85AA5A0}" destId="{8659B400-616F-4060-A4A0-8E84E8E3D5BC}" srcOrd="0" destOrd="0" presId="urn:microsoft.com/office/officeart/2016/7/layout/RepeatingBendingProcessNew"/>
    <dgm:cxn modelId="{5F1F3B32-6C21-4427-B37E-98B1BF4B23A4}" type="presOf" srcId="{1F690394-4F4A-44A3-AAF0-5D5FAD837FA2}" destId="{BF65D9E1-CD61-45FA-B6DC-7BC6A77CD703}" srcOrd="0" destOrd="0" presId="urn:microsoft.com/office/officeart/2016/7/layout/RepeatingBendingProcessNew"/>
    <dgm:cxn modelId="{179EA143-6FF5-4565-9EDE-82C61DEFC11D}" type="presOf" srcId="{EFA18620-9F5A-44A9-924D-81BAB8394C13}" destId="{5A7CFB7A-6D8C-4694-8200-B4BDCC1FB568}" srcOrd="0" destOrd="0" presId="urn:microsoft.com/office/officeart/2016/7/layout/RepeatingBendingProcessNew"/>
    <dgm:cxn modelId="{0EFEC444-4B94-4A29-BDE8-36FD2490DA47}" srcId="{325E1221-16D5-4DFE-A1D6-D20DE85AA5A0}" destId="{6843E933-254A-464C-9E72-007BD3FEB0F1}" srcOrd="3" destOrd="0" parTransId="{052F7E3F-1D9F-4C37-9A1D-FF9129A77606}" sibTransId="{D748AF4A-3B3A-413A-BFA0-129D145B9860}"/>
    <dgm:cxn modelId="{8A384566-1531-4EDA-894D-3844CCE53FC2}" type="presOf" srcId="{51E9625C-3FF9-4A0E-9786-085EFE07F238}" destId="{762006C7-E11E-415A-93D7-708BEBAFB518}" srcOrd="1" destOrd="0" presId="urn:microsoft.com/office/officeart/2016/7/layout/RepeatingBendingProcessNew"/>
    <dgm:cxn modelId="{D5E55A59-433B-45D8-88AF-5BC98368A5A5}" type="presOf" srcId="{51E9625C-3FF9-4A0E-9786-085EFE07F238}" destId="{1CBDD1AC-601B-4E8F-B5E3-6C2F0C3010C8}" srcOrd="0" destOrd="0" presId="urn:microsoft.com/office/officeart/2016/7/layout/RepeatingBendingProcessNew"/>
    <dgm:cxn modelId="{2FDD5A7A-7F8F-4804-AB8B-121A4F1F88A6}" type="presOf" srcId="{1F690394-4F4A-44A3-AAF0-5D5FAD837FA2}" destId="{6E0B9936-E51F-4041-8700-9295C3E1BE88}" srcOrd="1" destOrd="0" presId="urn:microsoft.com/office/officeart/2016/7/layout/RepeatingBendingProcessNew"/>
    <dgm:cxn modelId="{3001BF9E-E3CB-41A7-B9D5-0D664FA4201A}" type="presOf" srcId="{FDA50ED1-C61D-423E-8965-9E7A4A4FBF71}" destId="{C28B5375-F1DD-4A44-9FEB-0B3EFF0ADD3B}" srcOrd="0" destOrd="0" presId="urn:microsoft.com/office/officeart/2016/7/layout/RepeatingBendingProcessNew"/>
    <dgm:cxn modelId="{721F579F-43C4-436A-86C3-5459AE3A2471}" srcId="{325E1221-16D5-4DFE-A1D6-D20DE85AA5A0}" destId="{EFA18620-9F5A-44A9-924D-81BAB8394C13}" srcOrd="4" destOrd="0" parTransId="{725738A3-F359-410D-9A46-28AA6003322F}" sibTransId="{C0EA3497-0D28-49CC-9347-4D44C2B2A8C5}"/>
    <dgm:cxn modelId="{4607F4A1-B16E-4D34-ADFE-C2FC67E7E846}" type="presOf" srcId="{C9CC8B30-CEE2-4B75-A275-E4183924F503}" destId="{2F656CE1-74A8-4546-9019-BDA6353EAB87}" srcOrd="0" destOrd="0" presId="urn:microsoft.com/office/officeart/2016/7/layout/RepeatingBendingProcessNew"/>
    <dgm:cxn modelId="{BAFEC7A2-AB67-4CAE-A214-B4731B3F58DC}" type="presOf" srcId="{D748AF4A-3B3A-413A-BFA0-129D145B9860}" destId="{6A573041-9064-4DB7-8BF5-ADE39A61F0F2}" srcOrd="0" destOrd="0" presId="urn:microsoft.com/office/officeart/2016/7/layout/RepeatingBendingProcessNew"/>
    <dgm:cxn modelId="{209C86A4-5BC1-44B9-BABF-A148AE07B747}" srcId="{325E1221-16D5-4DFE-A1D6-D20DE85AA5A0}" destId="{9F16942E-0CF0-4164-B0FC-DEEDBD99119C}" srcOrd="5" destOrd="0" parTransId="{4A2120AB-D260-400B-9CD1-4A8F1AD959FA}" sibTransId="{D2F030DE-EAA8-4177-8D29-CBA7F897D391}"/>
    <dgm:cxn modelId="{FA8474AB-8577-4FDB-859B-02E1CDA87DAA}" srcId="{325E1221-16D5-4DFE-A1D6-D20DE85AA5A0}" destId="{74E7A257-CABB-48E9-BCB2-71667514AB05}" srcOrd="2" destOrd="0" parTransId="{6955D023-1C11-45AD-B48F-29F7C11A466F}" sibTransId="{51E9625C-3FF9-4A0E-9786-085EFE07F238}"/>
    <dgm:cxn modelId="{5841C2AC-5EE4-457F-B30B-6DFDB0FA1A9C}" type="presOf" srcId="{C0EA3497-0D28-49CC-9347-4D44C2B2A8C5}" destId="{A0B07579-D8DC-49B4-BB10-2CE0CA7AB5F3}" srcOrd="0" destOrd="0" presId="urn:microsoft.com/office/officeart/2016/7/layout/RepeatingBendingProcessNew"/>
    <dgm:cxn modelId="{995F8FC1-0461-4881-B475-89CAFC24C03D}" type="presOf" srcId="{D2F030DE-EAA8-4177-8D29-CBA7F897D391}" destId="{832C12F1-D14C-4168-8D9A-E466F864ECC4}" srcOrd="0" destOrd="0" presId="urn:microsoft.com/office/officeart/2016/7/layout/RepeatingBendingProcessNew"/>
    <dgm:cxn modelId="{DD8A18C6-030C-4FB0-B4CB-0177C8B0341E}" type="presOf" srcId="{5D6CB1D6-A1E6-4D2C-98BB-91EC8D083638}" destId="{E2ADF973-8A21-4559-8059-6851F6A6B642}" srcOrd="0" destOrd="0" presId="urn:microsoft.com/office/officeart/2016/7/layout/RepeatingBendingProcessNew"/>
    <dgm:cxn modelId="{240B71CC-2CD0-4626-95E2-8039EA03BDAC}" srcId="{325E1221-16D5-4DFE-A1D6-D20DE85AA5A0}" destId="{FDA50ED1-C61D-423E-8965-9E7A4A4FBF71}" srcOrd="6" destOrd="0" parTransId="{7538B0F3-25F5-4B68-8A44-C8912EA80537}" sibTransId="{F65AC69B-F8F4-4EDD-91AD-26B6703AA0E2}"/>
    <dgm:cxn modelId="{66456BDD-AB72-4628-83B8-A9A5C52F20B4}" srcId="{325E1221-16D5-4DFE-A1D6-D20DE85AA5A0}" destId="{5D6CB1D6-A1E6-4D2C-98BB-91EC8D083638}" srcOrd="0" destOrd="0" parTransId="{BC32DA53-CBA7-4711-90CD-87D8E9E5F1D6}" sibTransId="{1F690394-4F4A-44A3-AAF0-5D5FAD837FA2}"/>
    <dgm:cxn modelId="{8E1346E5-AF89-4C40-BE89-224DC07398A1}" type="presOf" srcId="{2968C6EA-990C-486C-904D-99ACCD59527D}" destId="{7C4542DC-5BE4-4285-BE70-A4E4916ABF6E}" srcOrd="1" destOrd="0" presId="urn:microsoft.com/office/officeart/2016/7/layout/RepeatingBendingProcessNew"/>
    <dgm:cxn modelId="{F18F1BEA-562D-4402-8FDA-CB7C52B7672B}" type="presOf" srcId="{2968C6EA-990C-486C-904D-99ACCD59527D}" destId="{0FCE6414-8F01-4FD2-A41B-DE604076469C}" srcOrd="0" destOrd="0" presId="urn:microsoft.com/office/officeart/2016/7/layout/RepeatingBendingProcessNew"/>
    <dgm:cxn modelId="{3BD250F4-2A0B-4B86-9580-0020E7F6AB8A}" type="presOf" srcId="{C0EA3497-0D28-49CC-9347-4D44C2B2A8C5}" destId="{D926CDF6-F258-490F-BB94-26D80D4F599D}" srcOrd="1" destOrd="0" presId="urn:microsoft.com/office/officeart/2016/7/layout/RepeatingBendingProcessNew"/>
    <dgm:cxn modelId="{8D0019F5-9ACC-4D4C-AFFF-14F8BC0FAD84}" type="presOf" srcId="{D2F030DE-EAA8-4177-8D29-CBA7F897D391}" destId="{9BCE20F8-EC0D-4C33-AB99-26B7DAA124B1}" srcOrd="1" destOrd="0" presId="urn:microsoft.com/office/officeart/2016/7/layout/RepeatingBendingProcessNew"/>
    <dgm:cxn modelId="{66BE53F5-A9A6-4876-9F54-BF169E90CD86}" type="presOf" srcId="{74E7A257-CABB-48E9-BCB2-71667514AB05}" destId="{FDE99334-F9FC-43ED-B6F2-BDA6AE5AC43E}" srcOrd="0" destOrd="0" presId="urn:microsoft.com/office/officeart/2016/7/layout/RepeatingBendingProcessNew"/>
    <dgm:cxn modelId="{CCD10AF8-AA7D-4ED1-8BC0-27EDF72D1BBA}" type="presOf" srcId="{D748AF4A-3B3A-413A-BFA0-129D145B9860}" destId="{9D544CC9-8467-4A47-8C0C-1DA43FC95F54}" srcOrd="1" destOrd="0" presId="urn:microsoft.com/office/officeart/2016/7/layout/RepeatingBendingProcessNew"/>
    <dgm:cxn modelId="{A0414EF8-3773-4A51-ADAC-A4A3111CF9ED}" type="presOf" srcId="{9F16942E-0CF0-4164-B0FC-DEEDBD99119C}" destId="{10D6D140-3BED-4A70-904E-AD4CCE12C7BB}" srcOrd="0" destOrd="0" presId="urn:microsoft.com/office/officeart/2016/7/layout/RepeatingBendingProcessNew"/>
    <dgm:cxn modelId="{E484860B-1653-4A7A-933C-3BC6C2051540}" type="presParOf" srcId="{8659B400-616F-4060-A4A0-8E84E8E3D5BC}" destId="{E2ADF973-8A21-4559-8059-6851F6A6B642}" srcOrd="0" destOrd="0" presId="urn:microsoft.com/office/officeart/2016/7/layout/RepeatingBendingProcessNew"/>
    <dgm:cxn modelId="{CA543E36-714B-4406-8926-B74B9D14B83E}" type="presParOf" srcId="{8659B400-616F-4060-A4A0-8E84E8E3D5BC}" destId="{BF65D9E1-CD61-45FA-B6DC-7BC6A77CD703}" srcOrd="1" destOrd="0" presId="urn:microsoft.com/office/officeart/2016/7/layout/RepeatingBendingProcessNew"/>
    <dgm:cxn modelId="{673C0E14-CDB4-4FB8-8065-F8082AAA2C4F}" type="presParOf" srcId="{BF65D9E1-CD61-45FA-B6DC-7BC6A77CD703}" destId="{6E0B9936-E51F-4041-8700-9295C3E1BE88}" srcOrd="0" destOrd="0" presId="urn:microsoft.com/office/officeart/2016/7/layout/RepeatingBendingProcessNew"/>
    <dgm:cxn modelId="{57C10414-7C72-493B-A99C-2ADFCC66327B}" type="presParOf" srcId="{8659B400-616F-4060-A4A0-8E84E8E3D5BC}" destId="{2F656CE1-74A8-4546-9019-BDA6353EAB87}" srcOrd="2" destOrd="0" presId="urn:microsoft.com/office/officeart/2016/7/layout/RepeatingBendingProcessNew"/>
    <dgm:cxn modelId="{5D0BAFCF-D22C-4B24-AA53-AC47314DF745}" type="presParOf" srcId="{8659B400-616F-4060-A4A0-8E84E8E3D5BC}" destId="{0FCE6414-8F01-4FD2-A41B-DE604076469C}" srcOrd="3" destOrd="0" presId="urn:microsoft.com/office/officeart/2016/7/layout/RepeatingBendingProcessNew"/>
    <dgm:cxn modelId="{19608FA1-78CF-4E50-93A4-EDDE40DB39FA}" type="presParOf" srcId="{0FCE6414-8F01-4FD2-A41B-DE604076469C}" destId="{7C4542DC-5BE4-4285-BE70-A4E4916ABF6E}" srcOrd="0" destOrd="0" presId="urn:microsoft.com/office/officeart/2016/7/layout/RepeatingBendingProcessNew"/>
    <dgm:cxn modelId="{B17DEF76-867A-4DD5-AC41-778593EA913C}" type="presParOf" srcId="{8659B400-616F-4060-A4A0-8E84E8E3D5BC}" destId="{FDE99334-F9FC-43ED-B6F2-BDA6AE5AC43E}" srcOrd="4" destOrd="0" presId="urn:microsoft.com/office/officeart/2016/7/layout/RepeatingBendingProcessNew"/>
    <dgm:cxn modelId="{70764990-3248-41B7-B3B3-7FEFDA00A44E}" type="presParOf" srcId="{8659B400-616F-4060-A4A0-8E84E8E3D5BC}" destId="{1CBDD1AC-601B-4E8F-B5E3-6C2F0C3010C8}" srcOrd="5" destOrd="0" presId="urn:microsoft.com/office/officeart/2016/7/layout/RepeatingBendingProcessNew"/>
    <dgm:cxn modelId="{A535F339-21AA-481D-BE9C-3798A9D80B7A}" type="presParOf" srcId="{1CBDD1AC-601B-4E8F-B5E3-6C2F0C3010C8}" destId="{762006C7-E11E-415A-93D7-708BEBAFB518}" srcOrd="0" destOrd="0" presId="urn:microsoft.com/office/officeart/2016/7/layout/RepeatingBendingProcessNew"/>
    <dgm:cxn modelId="{E88C6FB6-1520-491A-9E51-DE6AA6B50479}" type="presParOf" srcId="{8659B400-616F-4060-A4A0-8E84E8E3D5BC}" destId="{A178DADE-4035-4BFE-88A3-D8C37BF8D51F}" srcOrd="6" destOrd="0" presId="urn:microsoft.com/office/officeart/2016/7/layout/RepeatingBendingProcessNew"/>
    <dgm:cxn modelId="{34B57243-C0CA-435F-AD6B-44D36C894FEA}" type="presParOf" srcId="{8659B400-616F-4060-A4A0-8E84E8E3D5BC}" destId="{6A573041-9064-4DB7-8BF5-ADE39A61F0F2}" srcOrd="7" destOrd="0" presId="urn:microsoft.com/office/officeart/2016/7/layout/RepeatingBendingProcessNew"/>
    <dgm:cxn modelId="{ABE08EF6-BBBB-4795-8CB9-8E1127D1ADB8}" type="presParOf" srcId="{6A573041-9064-4DB7-8BF5-ADE39A61F0F2}" destId="{9D544CC9-8467-4A47-8C0C-1DA43FC95F54}" srcOrd="0" destOrd="0" presId="urn:microsoft.com/office/officeart/2016/7/layout/RepeatingBendingProcessNew"/>
    <dgm:cxn modelId="{EC305327-1CFE-4CB2-A924-69CBFD33C7A9}" type="presParOf" srcId="{8659B400-616F-4060-A4A0-8E84E8E3D5BC}" destId="{5A7CFB7A-6D8C-4694-8200-B4BDCC1FB568}" srcOrd="8" destOrd="0" presId="urn:microsoft.com/office/officeart/2016/7/layout/RepeatingBendingProcessNew"/>
    <dgm:cxn modelId="{DF95DD0B-EA1F-4C6A-896B-FC176450C30D}" type="presParOf" srcId="{8659B400-616F-4060-A4A0-8E84E8E3D5BC}" destId="{A0B07579-D8DC-49B4-BB10-2CE0CA7AB5F3}" srcOrd="9" destOrd="0" presId="urn:microsoft.com/office/officeart/2016/7/layout/RepeatingBendingProcessNew"/>
    <dgm:cxn modelId="{9A9D64D0-2D30-4856-8B47-72954A1623E9}" type="presParOf" srcId="{A0B07579-D8DC-49B4-BB10-2CE0CA7AB5F3}" destId="{D926CDF6-F258-490F-BB94-26D80D4F599D}" srcOrd="0" destOrd="0" presId="urn:microsoft.com/office/officeart/2016/7/layout/RepeatingBendingProcessNew"/>
    <dgm:cxn modelId="{6E02AFB0-C5F9-4A02-B8C5-325EBCE3A6B3}" type="presParOf" srcId="{8659B400-616F-4060-A4A0-8E84E8E3D5BC}" destId="{10D6D140-3BED-4A70-904E-AD4CCE12C7BB}" srcOrd="10" destOrd="0" presId="urn:microsoft.com/office/officeart/2016/7/layout/RepeatingBendingProcessNew"/>
    <dgm:cxn modelId="{99EE89CD-31A5-4E3E-B86A-0B036F47F9AF}" type="presParOf" srcId="{8659B400-616F-4060-A4A0-8E84E8E3D5BC}" destId="{832C12F1-D14C-4168-8D9A-E466F864ECC4}" srcOrd="11" destOrd="0" presId="urn:microsoft.com/office/officeart/2016/7/layout/RepeatingBendingProcessNew"/>
    <dgm:cxn modelId="{B9A4F176-69EA-434E-BF2F-CA24662450AE}" type="presParOf" srcId="{832C12F1-D14C-4168-8D9A-E466F864ECC4}" destId="{9BCE20F8-EC0D-4C33-AB99-26B7DAA124B1}" srcOrd="0" destOrd="0" presId="urn:microsoft.com/office/officeart/2016/7/layout/RepeatingBendingProcessNew"/>
    <dgm:cxn modelId="{450E035E-CFB3-40F7-9169-69B890BFCB5E}" type="presParOf" srcId="{8659B400-616F-4060-A4A0-8E84E8E3D5BC}" destId="{C28B5375-F1DD-4A44-9FEB-0B3EFF0ADD3B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1F44F1-07B2-495E-858E-784E19B253E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2520C4-0082-42EB-AF27-F425E2DBD5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Qubits are fragile. Heat, electromagnetic interference, anything in the environment can throw quantum states into disarray and cause errors. That's why error correction is the big breakthrough happening now.</a:t>
          </a:r>
        </a:p>
      </dgm:t>
    </dgm:pt>
    <dgm:pt modelId="{616D3B9D-4CDD-469A-9753-A619375CCB97}" type="parTrans" cxnId="{6C2DDE94-F469-433C-9090-CEA8925FC797}">
      <dgm:prSet/>
      <dgm:spPr/>
      <dgm:t>
        <a:bodyPr/>
        <a:lstStyle/>
        <a:p>
          <a:endParaRPr lang="en-US"/>
        </a:p>
      </dgm:t>
    </dgm:pt>
    <dgm:pt modelId="{7FEC033D-0F21-46EF-B05B-249536907D03}" type="sibTrans" cxnId="{6C2DDE94-F469-433C-9090-CEA8925FC797}">
      <dgm:prSet/>
      <dgm:spPr/>
      <dgm:t>
        <a:bodyPr/>
        <a:lstStyle/>
        <a:p>
          <a:endParaRPr lang="en-US"/>
        </a:p>
      </dgm:t>
    </dgm:pt>
    <dgm:pt modelId="{723D865A-7BFB-4527-8941-6AB11B2CF32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/>
            <a:t>Bottom line: 2026 is the inflection point. We’re moving from noisy lab experiments to early error-corrected systems customers can use. True fault-tolerant, large-scale machines are still ∼2029+, but specific advantages in chemistry and optimization start this year.</a:t>
          </a:r>
        </a:p>
      </dgm:t>
    </dgm:pt>
    <dgm:pt modelId="{250771D9-F09A-444D-B51C-54C1A68B5B80}" type="parTrans" cxnId="{039F8FBC-FCD8-4E92-9BEB-213A3E89E01F}">
      <dgm:prSet/>
      <dgm:spPr/>
      <dgm:t>
        <a:bodyPr/>
        <a:lstStyle/>
        <a:p>
          <a:endParaRPr lang="en-US"/>
        </a:p>
      </dgm:t>
    </dgm:pt>
    <dgm:pt modelId="{483B25EA-EA07-4232-A8C7-60C5B1870B9F}" type="sibTrans" cxnId="{039F8FBC-FCD8-4E92-9BEB-213A3E89E01F}">
      <dgm:prSet/>
      <dgm:spPr/>
      <dgm:t>
        <a:bodyPr/>
        <a:lstStyle/>
        <a:p>
          <a:endParaRPr lang="en-US"/>
        </a:p>
      </dgm:t>
    </dgm:pt>
    <dgm:pt modelId="{111A222E-A673-496F-9B97-86F764B57E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Want me to dive deeper into how qubits are physically made, or what "quantum advantage" means for your field? b5a7ca1fd964</a:t>
          </a:r>
        </a:p>
      </dgm:t>
    </dgm:pt>
    <dgm:pt modelId="{5C5432C7-2821-4C93-90FA-977F1B5E50F9}" type="parTrans" cxnId="{141B211E-8892-445D-97C2-DDC8E8C8E1D6}">
      <dgm:prSet/>
      <dgm:spPr/>
      <dgm:t>
        <a:bodyPr/>
        <a:lstStyle/>
        <a:p>
          <a:endParaRPr lang="en-US"/>
        </a:p>
      </dgm:t>
    </dgm:pt>
    <dgm:pt modelId="{33E62432-DD9E-47BF-8417-651B077578C4}" type="sibTrans" cxnId="{141B211E-8892-445D-97C2-DDC8E8C8E1D6}">
      <dgm:prSet/>
      <dgm:spPr/>
      <dgm:t>
        <a:bodyPr/>
        <a:lstStyle/>
        <a:p>
          <a:endParaRPr lang="en-US"/>
        </a:p>
      </dgm:t>
    </dgm:pt>
    <dgm:pt modelId="{4495CA0E-86A3-4824-8376-7ECF3558C181}" type="pres">
      <dgm:prSet presAssocID="{9D1F44F1-07B2-495E-858E-784E19B253E9}" presName="root" presStyleCnt="0">
        <dgm:presLayoutVars>
          <dgm:dir/>
          <dgm:resizeHandles val="exact"/>
        </dgm:presLayoutVars>
      </dgm:prSet>
      <dgm:spPr/>
    </dgm:pt>
    <dgm:pt modelId="{7B51ED38-9F8D-482A-8B58-69CBC4DB50ED}" type="pres">
      <dgm:prSet presAssocID="{912520C4-0082-42EB-AF27-F425E2DBD550}" presName="compNode" presStyleCnt="0"/>
      <dgm:spPr/>
    </dgm:pt>
    <dgm:pt modelId="{02274859-80D8-4DCC-A14A-232D16F9F1E7}" type="pres">
      <dgm:prSet presAssocID="{912520C4-0082-42EB-AF27-F425E2DBD55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76A6A84-EF56-46AE-BFA1-2DC48185928A}" type="pres">
      <dgm:prSet presAssocID="{912520C4-0082-42EB-AF27-F425E2DBD550}" presName="spaceRect" presStyleCnt="0"/>
      <dgm:spPr/>
    </dgm:pt>
    <dgm:pt modelId="{5A275669-1596-4785-A839-195F89E1FECA}" type="pres">
      <dgm:prSet presAssocID="{912520C4-0082-42EB-AF27-F425E2DBD550}" presName="textRect" presStyleLbl="revTx" presStyleIdx="0" presStyleCnt="3">
        <dgm:presLayoutVars>
          <dgm:chMax val="1"/>
          <dgm:chPref val="1"/>
        </dgm:presLayoutVars>
      </dgm:prSet>
      <dgm:spPr/>
    </dgm:pt>
    <dgm:pt modelId="{D8C5CA2A-7887-438E-B7ED-20724C2C31F4}" type="pres">
      <dgm:prSet presAssocID="{7FEC033D-0F21-46EF-B05B-249536907D03}" presName="sibTrans" presStyleCnt="0"/>
      <dgm:spPr/>
    </dgm:pt>
    <dgm:pt modelId="{2E05D908-5843-4EA3-921F-65C167F69BDC}" type="pres">
      <dgm:prSet presAssocID="{723D865A-7BFB-4527-8941-6AB11B2CF322}" presName="compNode" presStyleCnt="0"/>
      <dgm:spPr/>
    </dgm:pt>
    <dgm:pt modelId="{63A835C0-DCE8-4971-B46E-8ED26DD1A6A8}" type="pres">
      <dgm:prSet presAssocID="{723D865A-7BFB-4527-8941-6AB11B2CF32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DA681F2D-5E67-4316-A8DF-B3C992D463BB}" type="pres">
      <dgm:prSet presAssocID="{723D865A-7BFB-4527-8941-6AB11B2CF322}" presName="spaceRect" presStyleCnt="0"/>
      <dgm:spPr/>
    </dgm:pt>
    <dgm:pt modelId="{51324729-1779-4B9B-80B0-67A82D28308C}" type="pres">
      <dgm:prSet presAssocID="{723D865A-7BFB-4527-8941-6AB11B2CF322}" presName="textRect" presStyleLbl="revTx" presStyleIdx="1" presStyleCnt="3">
        <dgm:presLayoutVars>
          <dgm:chMax val="1"/>
          <dgm:chPref val="1"/>
        </dgm:presLayoutVars>
      </dgm:prSet>
      <dgm:spPr/>
    </dgm:pt>
    <dgm:pt modelId="{37D9B9C5-8A8E-455E-9D01-A41975A28871}" type="pres">
      <dgm:prSet presAssocID="{483B25EA-EA07-4232-A8C7-60C5B1870B9F}" presName="sibTrans" presStyleCnt="0"/>
      <dgm:spPr/>
    </dgm:pt>
    <dgm:pt modelId="{1A8AFEE5-7459-4B1C-B4CA-ACCAA66AD143}" type="pres">
      <dgm:prSet presAssocID="{111A222E-A673-496F-9B97-86F764B57E24}" presName="compNode" presStyleCnt="0"/>
      <dgm:spPr/>
    </dgm:pt>
    <dgm:pt modelId="{9E154F8F-DA69-4317-BB11-B3DCE7064960}" type="pres">
      <dgm:prSet presAssocID="{111A222E-A673-496F-9B97-86F764B57E2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s"/>
        </a:ext>
      </dgm:extLst>
    </dgm:pt>
    <dgm:pt modelId="{B5BCBF75-0A6A-483E-BC8B-2CDE565C5FEF}" type="pres">
      <dgm:prSet presAssocID="{111A222E-A673-496F-9B97-86F764B57E24}" presName="spaceRect" presStyleCnt="0"/>
      <dgm:spPr/>
    </dgm:pt>
    <dgm:pt modelId="{93C04F60-A6C0-47F1-9BF0-921C308014F9}" type="pres">
      <dgm:prSet presAssocID="{111A222E-A673-496F-9B97-86F764B57E2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156B04-18CC-45D5-921A-5FCE4CC72425}" type="presOf" srcId="{723D865A-7BFB-4527-8941-6AB11B2CF322}" destId="{51324729-1779-4B9B-80B0-67A82D28308C}" srcOrd="0" destOrd="0" presId="urn:microsoft.com/office/officeart/2018/2/layout/IconLabelList"/>
    <dgm:cxn modelId="{971C5817-ACF0-49AE-A15B-64B4FB2A0C31}" type="presOf" srcId="{912520C4-0082-42EB-AF27-F425E2DBD550}" destId="{5A275669-1596-4785-A839-195F89E1FECA}" srcOrd="0" destOrd="0" presId="urn:microsoft.com/office/officeart/2018/2/layout/IconLabelList"/>
    <dgm:cxn modelId="{141B211E-8892-445D-97C2-DDC8E8C8E1D6}" srcId="{9D1F44F1-07B2-495E-858E-784E19B253E9}" destId="{111A222E-A673-496F-9B97-86F764B57E24}" srcOrd="2" destOrd="0" parTransId="{5C5432C7-2821-4C93-90FA-977F1B5E50F9}" sibTransId="{33E62432-DD9E-47BF-8417-651B077578C4}"/>
    <dgm:cxn modelId="{77A03E41-631D-41A9-A50C-E1C15DE0DE66}" type="presOf" srcId="{9D1F44F1-07B2-495E-858E-784E19B253E9}" destId="{4495CA0E-86A3-4824-8376-7ECF3558C181}" srcOrd="0" destOrd="0" presId="urn:microsoft.com/office/officeart/2018/2/layout/IconLabelList"/>
    <dgm:cxn modelId="{6C2DDE94-F469-433C-9090-CEA8925FC797}" srcId="{9D1F44F1-07B2-495E-858E-784E19B253E9}" destId="{912520C4-0082-42EB-AF27-F425E2DBD550}" srcOrd="0" destOrd="0" parTransId="{616D3B9D-4CDD-469A-9753-A619375CCB97}" sibTransId="{7FEC033D-0F21-46EF-B05B-249536907D03}"/>
    <dgm:cxn modelId="{039F8FBC-FCD8-4E92-9BEB-213A3E89E01F}" srcId="{9D1F44F1-07B2-495E-858E-784E19B253E9}" destId="{723D865A-7BFB-4527-8941-6AB11B2CF322}" srcOrd="1" destOrd="0" parTransId="{250771D9-F09A-444D-B51C-54C1A68B5B80}" sibTransId="{483B25EA-EA07-4232-A8C7-60C5B1870B9F}"/>
    <dgm:cxn modelId="{7740F6C0-C6C8-4311-9BCF-B43BF497DD71}" type="presOf" srcId="{111A222E-A673-496F-9B97-86F764B57E24}" destId="{93C04F60-A6C0-47F1-9BF0-921C308014F9}" srcOrd="0" destOrd="0" presId="urn:microsoft.com/office/officeart/2018/2/layout/IconLabelList"/>
    <dgm:cxn modelId="{9443218A-7D53-4E66-9FB9-5DF385C87F4C}" type="presParOf" srcId="{4495CA0E-86A3-4824-8376-7ECF3558C181}" destId="{7B51ED38-9F8D-482A-8B58-69CBC4DB50ED}" srcOrd="0" destOrd="0" presId="urn:microsoft.com/office/officeart/2018/2/layout/IconLabelList"/>
    <dgm:cxn modelId="{2B4F044A-3843-4324-8177-7E951FA14A80}" type="presParOf" srcId="{7B51ED38-9F8D-482A-8B58-69CBC4DB50ED}" destId="{02274859-80D8-4DCC-A14A-232D16F9F1E7}" srcOrd="0" destOrd="0" presId="urn:microsoft.com/office/officeart/2018/2/layout/IconLabelList"/>
    <dgm:cxn modelId="{7AFDCD29-E69F-43EA-84C7-68CA2A26D3B3}" type="presParOf" srcId="{7B51ED38-9F8D-482A-8B58-69CBC4DB50ED}" destId="{476A6A84-EF56-46AE-BFA1-2DC48185928A}" srcOrd="1" destOrd="0" presId="urn:microsoft.com/office/officeart/2018/2/layout/IconLabelList"/>
    <dgm:cxn modelId="{8A0124BA-C689-45FE-9392-CF4FB4C9E2F2}" type="presParOf" srcId="{7B51ED38-9F8D-482A-8B58-69CBC4DB50ED}" destId="{5A275669-1596-4785-A839-195F89E1FECA}" srcOrd="2" destOrd="0" presId="urn:microsoft.com/office/officeart/2018/2/layout/IconLabelList"/>
    <dgm:cxn modelId="{B5350F9B-A004-474C-A860-D94381A01F5D}" type="presParOf" srcId="{4495CA0E-86A3-4824-8376-7ECF3558C181}" destId="{D8C5CA2A-7887-438E-B7ED-20724C2C31F4}" srcOrd="1" destOrd="0" presId="urn:microsoft.com/office/officeart/2018/2/layout/IconLabelList"/>
    <dgm:cxn modelId="{0E2E07F9-D2EE-443C-95A9-4604296957F1}" type="presParOf" srcId="{4495CA0E-86A3-4824-8376-7ECF3558C181}" destId="{2E05D908-5843-4EA3-921F-65C167F69BDC}" srcOrd="2" destOrd="0" presId="urn:microsoft.com/office/officeart/2018/2/layout/IconLabelList"/>
    <dgm:cxn modelId="{580E40C9-2CE1-4910-B1BF-78B04E4B17A4}" type="presParOf" srcId="{2E05D908-5843-4EA3-921F-65C167F69BDC}" destId="{63A835C0-DCE8-4971-B46E-8ED26DD1A6A8}" srcOrd="0" destOrd="0" presId="urn:microsoft.com/office/officeart/2018/2/layout/IconLabelList"/>
    <dgm:cxn modelId="{6108FBC6-8798-4E41-971F-7B0DBBD61034}" type="presParOf" srcId="{2E05D908-5843-4EA3-921F-65C167F69BDC}" destId="{DA681F2D-5E67-4316-A8DF-B3C992D463BB}" srcOrd="1" destOrd="0" presId="urn:microsoft.com/office/officeart/2018/2/layout/IconLabelList"/>
    <dgm:cxn modelId="{6F5AA2B0-0FF7-4D6A-AAA0-AD29673EF6AD}" type="presParOf" srcId="{2E05D908-5843-4EA3-921F-65C167F69BDC}" destId="{51324729-1779-4B9B-80B0-67A82D28308C}" srcOrd="2" destOrd="0" presId="urn:microsoft.com/office/officeart/2018/2/layout/IconLabelList"/>
    <dgm:cxn modelId="{E67DBEFF-4477-49B7-8B9A-3C561A820659}" type="presParOf" srcId="{4495CA0E-86A3-4824-8376-7ECF3558C181}" destId="{37D9B9C5-8A8E-455E-9D01-A41975A28871}" srcOrd="3" destOrd="0" presId="urn:microsoft.com/office/officeart/2018/2/layout/IconLabelList"/>
    <dgm:cxn modelId="{3DA604A9-34CF-42AD-BE1E-6E59408B0743}" type="presParOf" srcId="{4495CA0E-86A3-4824-8376-7ECF3558C181}" destId="{1A8AFEE5-7459-4B1C-B4CA-ACCAA66AD143}" srcOrd="4" destOrd="0" presId="urn:microsoft.com/office/officeart/2018/2/layout/IconLabelList"/>
    <dgm:cxn modelId="{6C00B421-A220-4F49-9A2E-FE55A994370E}" type="presParOf" srcId="{1A8AFEE5-7459-4B1C-B4CA-ACCAA66AD143}" destId="{9E154F8F-DA69-4317-BB11-B3DCE7064960}" srcOrd="0" destOrd="0" presId="urn:microsoft.com/office/officeart/2018/2/layout/IconLabelList"/>
    <dgm:cxn modelId="{F326DC75-A9CE-48EA-BCE4-3FED8CDE6399}" type="presParOf" srcId="{1A8AFEE5-7459-4B1C-B4CA-ACCAA66AD143}" destId="{B5BCBF75-0A6A-483E-BC8B-2CDE565C5FEF}" srcOrd="1" destOrd="0" presId="urn:microsoft.com/office/officeart/2018/2/layout/IconLabelList"/>
    <dgm:cxn modelId="{0C726CAB-8C4C-422A-8B18-27DA0324E56F}" type="presParOf" srcId="{1A8AFEE5-7459-4B1C-B4CA-ACCAA66AD143}" destId="{93C04F60-A6C0-47F1-9BF0-921C308014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5D9E1-CD61-45FA-B6DC-7BC6A77CD703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E2ADF973-8A21-4559-8059-6851F6A6B642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Unlike your laptop that uses bits that are either 0 or 1, quantum computers use qubits. </a:t>
          </a:r>
        </a:p>
      </dsp:txBody>
      <dsp:txXfrm>
        <a:off x="2092" y="573182"/>
        <a:ext cx="2241239" cy="1344743"/>
      </dsp:txXfrm>
    </dsp:sp>
    <dsp:sp modelId="{0FCE6414-8F01-4FD2-A41B-DE604076469C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2F656CE1-74A8-4546-9019-BDA6353EAB87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-242561"/>
                <a:satOff val="-13988"/>
                <a:lumOff val="14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42561"/>
                <a:satOff val="-13988"/>
                <a:lumOff val="14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42561"/>
                <a:satOff val="-13988"/>
                <a:lumOff val="14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Two weird quantum rules make qubits powerful:</a:t>
          </a:r>
        </a:p>
      </dsp:txBody>
      <dsp:txXfrm>
        <a:off x="2758817" y="573182"/>
        <a:ext cx="2241239" cy="1344743"/>
      </dsp:txXfrm>
    </dsp:sp>
    <dsp:sp modelId="{1CBDD1AC-601B-4E8F-B5E3-6C2F0C3010C8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FDE99334-F9FC-43ED-B6F2-BDA6AE5AC43E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Superposition: A qubit can be 0, 1, or both at the same time. So a quantum computer can try many paths simultaneously instead of one-by-one</a:t>
          </a:r>
        </a:p>
      </dsp:txBody>
      <dsp:txXfrm>
        <a:off x="5515542" y="573182"/>
        <a:ext cx="2241239" cy="1344743"/>
      </dsp:txXfrm>
    </dsp:sp>
    <dsp:sp modelId="{6A573041-9064-4DB7-8BF5-ADE39A61F0F2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635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A178DADE-4035-4BFE-88A3-D8C37BF8D51F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Entanglement: Qubits can be linked so changing one instantly affects another, letting the computer act on all particles at once</a:t>
          </a:r>
        </a:p>
      </dsp:txBody>
      <dsp:txXfrm>
        <a:off x="8272267" y="573182"/>
        <a:ext cx="2241239" cy="1344743"/>
      </dsp:txXfrm>
    </dsp:sp>
    <dsp:sp modelId="{A0B07579-D8DC-49B4-BB10-2CE0CA7AB5F3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5A7CFB7A-6D8C-4694-8200-B4BDCC1FB568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bcc8199919c3</a:t>
          </a:r>
        </a:p>
      </dsp:txBody>
      <dsp:txXfrm>
        <a:off x="2092" y="2433411"/>
        <a:ext cx="2241239" cy="1344743"/>
      </dsp:txXfrm>
    </dsp:sp>
    <dsp:sp modelId="{832C12F1-D14C-4168-8D9A-E466F864ECC4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10D6D140-3BED-4A70-904E-AD4CCE12C7BB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-1212803"/>
                <a:satOff val="-69940"/>
                <a:lumOff val="71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12803"/>
                <a:satOff val="-69940"/>
                <a:lumOff val="71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12803"/>
                <a:satOff val="-69940"/>
                <a:lumOff val="71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Analogy: A classical computer solving a maze tries one path at a time. A quantum computer tries many paths in parallel.</a:t>
          </a:r>
        </a:p>
      </dsp:txBody>
      <dsp:txXfrm>
        <a:off x="2758817" y="2433411"/>
        <a:ext cx="2241239" cy="1344743"/>
      </dsp:txXfrm>
    </dsp:sp>
    <dsp:sp modelId="{C28B5375-F1DD-4A44-9FEB-0B3EFF0ADD3B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Important: Quantum computers aren’t general-purpose replacements. They’re specialized co-processors for specific high-complexity problems. </a:t>
          </a:r>
        </a:p>
      </dsp:txBody>
      <dsp:txXfrm>
        <a:off x="5515542" y="2433411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74859-80D8-4DCC-A14A-232D16F9F1E7}">
      <dsp:nvSpPr>
        <dsp:cNvPr id="0" name=""/>
        <dsp:cNvSpPr/>
      </dsp:nvSpPr>
      <dsp:spPr>
        <a:xfrm>
          <a:off x="1212569" y="753791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75669-1596-4785-A839-195F89E1FECA}">
      <dsp:nvSpPr>
        <dsp:cNvPr id="0" name=""/>
        <dsp:cNvSpPr/>
      </dsp:nvSpPr>
      <dsp:spPr>
        <a:xfrm>
          <a:off x="417971" y="2480896"/>
          <a:ext cx="2889450" cy="1116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Qubits are fragile. Heat, electromagnetic interference, anything in the environment can throw quantum states into disarray and cause errors. That's why error correction is the big breakthrough happening now.</a:t>
          </a:r>
        </a:p>
      </dsp:txBody>
      <dsp:txXfrm>
        <a:off x="417971" y="2480896"/>
        <a:ext cx="2889450" cy="1116650"/>
      </dsp:txXfrm>
    </dsp:sp>
    <dsp:sp modelId="{63A835C0-DCE8-4971-B46E-8ED26DD1A6A8}">
      <dsp:nvSpPr>
        <dsp:cNvPr id="0" name=""/>
        <dsp:cNvSpPr/>
      </dsp:nvSpPr>
      <dsp:spPr>
        <a:xfrm>
          <a:off x="4607673" y="753791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24729-1779-4B9B-80B0-67A82D28308C}">
      <dsp:nvSpPr>
        <dsp:cNvPr id="0" name=""/>
        <dsp:cNvSpPr/>
      </dsp:nvSpPr>
      <dsp:spPr>
        <a:xfrm>
          <a:off x="3813075" y="2480896"/>
          <a:ext cx="2889450" cy="1116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Bottom line: 2026 is the inflection point. We’re moving from noisy lab experiments to early error-corrected systems customers can use. True fault-tolerant, large-scale machines are still ∼2029+, but specific advantages in chemistry and optimization start this year.</a:t>
          </a:r>
        </a:p>
      </dsp:txBody>
      <dsp:txXfrm>
        <a:off x="3813075" y="2480896"/>
        <a:ext cx="2889450" cy="1116650"/>
      </dsp:txXfrm>
    </dsp:sp>
    <dsp:sp modelId="{9E154F8F-DA69-4317-BB11-B3DCE7064960}">
      <dsp:nvSpPr>
        <dsp:cNvPr id="0" name=""/>
        <dsp:cNvSpPr/>
      </dsp:nvSpPr>
      <dsp:spPr>
        <a:xfrm>
          <a:off x="8002777" y="753791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04F60-A6C0-47F1-9BF0-921C308014F9}">
      <dsp:nvSpPr>
        <dsp:cNvPr id="0" name=""/>
        <dsp:cNvSpPr/>
      </dsp:nvSpPr>
      <dsp:spPr>
        <a:xfrm>
          <a:off x="7208178" y="2480896"/>
          <a:ext cx="2889450" cy="1116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Want me to dive deeper into how qubits are physically made, or what "quantum advantage" means for your field? b5a7ca1fd964</a:t>
          </a:r>
        </a:p>
      </dsp:txBody>
      <dsp:txXfrm>
        <a:off x="7208178" y="2480896"/>
        <a:ext cx="2889450" cy="1116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ABE9-A0B2-B59B-51CC-F5DCB210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3E380-7A3B-3812-1765-AC06E7DF0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2325-390C-035C-2E14-BEE7ECA9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73319-7178-3E18-C0FA-82C8B53D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AF48E-E828-DB83-8257-A07C5FFC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6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AD54-7072-68B2-E8CD-68C9F234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B915-BB24-4D2C-3213-B3F0CE76E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4577B-E0C5-7063-280D-89EC5663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DE7CD-7251-A972-23DD-6E931D80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37A16-9037-5072-4357-10B079AC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E412-6F4A-94CA-001E-F7F132EA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D9C1D-B4C9-551C-79ED-6AEE156E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C6D45-D8D9-5A2B-495B-604E38FB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DAC1-235B-E155-BC6A-8CF27709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5176C-0F0A-86AD-56CC-18117BD6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7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37A0-269D-4968-D139-80BF0A5E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9649A-1A19-8EB9-C51B-1C5732541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2B5F9-0E7B-12DD-0936-24A8ECE35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A439-F311-996F-134F-736B9E87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D833D-B6BE-A84B-DC0B-AFF478EE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0F818-F677-B10C-D3DD-B86C51B1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6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3B2F-3E09-0DA1-0C0A-EECC20F1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43936-AF26-AE2D-29D9-5B92BB39F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1B24B-C268-FD10-A160-CC38E1EAB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1BABD-5A69-7927-FDB8-EB3C48C96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0EE13-92D2-AD77-7AA3-1154EEA2A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FAC81-63C4-F305-4C67-EE02C00C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1A462-C251-FA91-D77D-C8471190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30837-1618-4F2E-959A-85E8E584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35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7A87-08F8-BD74-5B08-80F09411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B1248-7084-B0C2-83F3-3ECB6074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7E201-982D-E440-8666-BEC0B061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66363-92A8-E171-6C40-37F66F05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C2659-B54C-A323-E6BF-701AD7F5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F4837-5BCC-E5D9-9989-344D68B6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0AC9-E3BE-9751-7C61-EC99D96D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29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1321-7167-5D2E-DE8A-04E08C22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6F26-63A3-7C30-3127-B61B5858B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E28C8-000D-6024-F4B0-7346EF080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5CF4C-F3EC-CBDC-6CD7-61F38722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28AAE-C1D4-E989-F237-77406B32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FA6D-AFBD-5548-6CD5-AAB8112E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46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CE5C-FC15-CE79-95E0-3E05D341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8DFA3-51E7-A967-9D7A-0E6D38A91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F3616-EAAA-07F8-F321-F336E351F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C80CA-CFAC-9865-BB44-7FAAE837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88A6-6241-30E7-EA31-3FE9AEE4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7CAD7-6794-BBE2-B4F5-47DEF618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5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5A2F-B8BE-F252-2D05-10466D9C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B3906-F2D8-6647-57E3-18F3E274B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A5DD4-9424-EFC4-C5F0-5A9690CE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3E4E-3CCB-043C-669D-6F94F5EB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95B50-DEE2-F40D-A39C-0CEB7220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26332-4522-1570-3FD9-78A832CA1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02E92-EECF-F00D-B2DA-B3C21246F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42D15-DA64-B1BB-F6AA-EC7EA0AC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33593-44BB-F4A2-475B-DFA4B9C5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61995-E9C1-AC3F-3CED-FCB63786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88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B95C1-D0CF-3BCF-EB4D-A89FA74A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A3FF2-B485-47CD-76D3-A2FE4524B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032E-6325-B9E2-C6A7-F95FCC5DE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089B-B7DE-924A-62E8-93CB646CC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833A2-64CF-9864-1DC5-416657F44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7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BCA030-1C21-0173-A690-E816AD550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Quantum computers in 2026: where we're at + how they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54193-750D-0426-77F5-CA6A1EB14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   Presented BY</a:t>
            </a:r>
          </a:p>
          <a:p>
            <a:pPr marL="114300" indent="-342900" algn="l">
              <a:buFont typeface="+mj-lt"/>
              <a:buAutoNum type="arabicPeriod"/>
            </a:pPr>
            <a:r>
              <a:rPr lang="en-US" sz="1800" b="1" dirty="0">
                <a:solidFill>
                  <a:schemeClr val="tx2"/>
                </a:solidFill>
              </a:rPr>
              <a:t>N. MANOJKUMAR</a:t>
            </a:r>
          </a:p>
          <a:p>
            <a:pPr marL="114300" indent="-342900" algn="l">
              <a:buFont typeface="+mj-lt"/>
              <a:buAutoNum type="arabicPeriod"/>
            </a:pPr>
            <a:r>
              <a:rPr lang="en-US" sz="1800" b="1" dirty="0">
                <a:solidFill>
                  <a:schemeClr val="tx2"/>
                </a:solidFill>
              </a:rPr>
              <a:t>G. NARASIMHULUG. </a:t>
            </a:r>
          </a:p>
          <a:p>
            <a:pPr marL="114300" indent="-342900" algn="l">
              <a:buFont typeface="+mj-lt"/>
              <a:buAutoNum type="arabicPeriod"/>
            </a:pPr>
            <a:r>
              <a:rPr lang="en-US" sz="1800" b="1" dirty="0">
                <a:solidFill>
                  <a:schemeClr val="tx2"/>
                </a:solidFill>
              </a:rPr>
              <a:t>T. KISHOR</a:t>
            </a:r>
          </a:p>
        </p:txBody>
      </p:sp>
    </p:spTree>
    <p:extLst>
      <p:ext uri="{BB962C8B-B14F-4D97-AF65-F5344CB8AC3E}">
        <p14:creationId xmlns:p14="http://schemas.microsoft.com/office/powerpoint/2010/main" val="209783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E0146A-82E1-D4A1-7C24-F3EEA2B171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8AC65-7EB3-A3AE-566B-AAB79808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1. What is a quantum computer?</a:t>
            </a:r>
            <a:endParaRPr lang="en-IN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028642B-E341-051A-7BC1-28A6A27DE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8352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945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F46AF-879D-E657-C541-873F945CB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2. Where quantum stands right now in 2026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A37A-02EB-537E-391E-7FF43F202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1500" dirty="0"/>
              <a:t>Hardware progress:</a:t>
            </a:r>
          </a:p>
          <a:p>
            <a:r>
              <a:rPr lang="en-IN" sz="1500" dirty="0"/>
              <a:t>Google Willow chip: 105 qubits, demonstrated "below threshold" error correction. Error rate halved when scaling from 3x3 to 5x5 to 7x7 qubit grids</a:t>
            </a:r>
          </a:p>
          <a:p>
            <a:r>
              <a:rPr lang="en-IN" sz="1500" dirty="0"/>
              <a:t> IBM Nighthawk: Running circuits with 5,000 two-qubit gates. IBM targets 2029 for first fault-tolerant quantum supercomputer "Starling" with 20,000x today's processing power</a:t>
            </a:r>
          </a:p>
          <a:p>
            <a:r>
              <a:rPr lang="en-IN" sz="1500" dirty="0"/>
              <a:t>Neutral atoms: Caltech built 6,100 qubit array, largest to date. Microsoft + Atom Computing plan error-corrected systems for customers in 2026</a:t>
            </a:r>
          </a:p>
          <a:p>
            <a:r>
              <a:rPr lang="en-IN" sz="1500" dirty="0"/>
              <a:t>Trapped ions: Duke building 96-qubit system by 2027, up from 32 qubits 19992022ca1fbcc8b5a782438109</a:t>
            </a:r>
          </a:p>
          <a:p>
            <a:r>
              <a:rPr lang="en-IN" sz="1500" dirty="0"/>
              <a:t>Error correction levels:</a:t>
            </a:r>
          </a:p>
          <a:p>
            <a:r>
              <a:rPr lang="en-IN" sz="1500" dirty="0"/>
              <a:t>Level 1 - NISQ: ∼1,000 noisy, error-prone qubits. This is where we were.</a:t>
            </a:r>
          </a:p>
          <a:p>
            <a:r>
              <a:rPr lang="en-IN" sz="1500" dirty="0"/>
              <a:t>Level 2: Small machines that detect/correct errors. 2026 is when customers finally get Level-2 machines</a:t>
            </a:r>
          </a:p>
          <a:p>
            <a:r>
              <a:rPr lang="en-IN" sz="1500" dirty="0"/>
              <a:t>Level 3: Millions of qubits, fault-tolerant, high fidelity. Still years out.</a:t>
            </a:r>
          </a:p>
          <a:p>
            <a:r>
              <a:rPr lang="en-IN" sz="1500" dirty="0"/>
              <a:t>Industry scale: Over $1B annual revenue now, $54B+ cumulative government investment worldwide. Quantum stocks up in 2026.</a:t>
            </a:r>
          </a:p>
        </p:txBody>
      </p:sp>
    </p:spTree>
    <p:extLst>
      <p:ext uri="{BB962C8B-B14F-4D97-AF65-F5344CB8AC3E}">
        <p14:creationId xmlns:p14="http://schemas.microsoft.com/office/powerpoint/2010/main" val="61502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FBC78-DDAA-9D27-671F-C7123A05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 3. What can they actually do in 2026?</a:t>
            </a:r>
            <a:endParaRPr lang="en-IN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E287A0C-1FFC-61C3-6373-75D9871D6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/>
              <a:t>Quantum advantage expected 2026: IBM says quantum advantage happens this year, starting with chemistry. Not replacing supercomputers, but solving specific problems classical can't.</a:t>
            </a:r>
          </a:p>
          <a:p>
            <a:endParaRPr lang="en-US" sz="1800"/>
          </a:p>
          <a:p>
            <a:r>
              <a:rPr lang="en-US" sz="1800"/>
              <a:t>Chemistry: Calculating molecule structure/energies is intrinsically quantum. 2026 may be the year we start using quantum computers for chemistry. IBM/RIKEN already modeled molecules with </a:t>
            </a:r>
            <a:r>
              <a:rPr lang="en-US" sz="1800" err="1"/>
              <a:t>quantum+supercomputer</a:t>
            </a:r>
            <a:r>
              <a:rPr lang="en-US" sz="1800"/>
              <a:t> in 2025.</a:t>
            </a:r>
          </a:p>
          <a:p>
            <a:endParaRPr lang="en-US" sz="1800"/>
          </a:p>
          <a:p>
            <a:r>
              <a:rPr lang="en-US" sz="1800"/>
              <a:t>Not usable broadly yet: Won't be "truly usable" until broadly commercialized and scaled. Need fault-tolerant machines that work even when components fail.</a:t>
            </a:r>
          </a:p>
          <a:p>
            <a:endParaRPr lang="en-US" sz="1800"/>
          </a:p>
          <a:p>
            <a:r>
              <a:rPr lang="en-US" sz="1800"/>
              <a:t>Timeline: Growing hope that usable machines solving complex tasks like chemical reactions or encryption could arrive in next 10 years. Nature says usable quantum computers could be here in a decade.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74000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B12BE-0C7A-90D3-BE62-AA1505F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 4. Why you should care</a:t>
            </a:r>
            <a:endParaRPr lang="en-IN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079F-2073-691E-9D49-6487B77C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IN" sz="2200" dirty="0"/>
              <a:t>- Cybersecurity: Quantum threatens current encryption. Post-quantum cryptography migration needed now for long-lived sensitive data</a:t>
            </a:r>
          </a:p>
          <a:p>
            <a:r>
              <a:rPr lang="en-IN" sz="2200" dirty="0"/>
              <a:t>Materials &amp; Pharma: Design new drugs/materials by simulating molecules exactly</a:t>
            </a:r>
          </a:p>
          <a:p>
            <a:r>
              <a:rPr lang="en-IN" sz="2200" dirty="0"/>
              <a:t>Optimization: Logistics, finance, AI training</a:t>
            </a:r>
          </a:p>
          <a:p>
            <a:r>
              <a:rPr lang="en-IN" sz="2200" dirty="0"/>
              <a:t>Access: You can run quantum circuits today via cloud: IBM Quantum, AWS </a:t>
            </a:r>
            <a:r>
              <a:rPr lang="en-IN" sz="2200" dirty="0" err="1"/>
              <a:t>Braket</a:t>
            </a:r>
            <a:r>
              <a:rPr lang="en-IN" sz="2200" dirty="0"/>
              <a:t>, Azure Quantum. </a:t>
            </a:r>
            <a:r>
              <a:rPr lang="en-IN" sz="2200" dirty="0" err="1"/>
              <a:t>Qiskit</a:t>
            </a:r>
            <a:r>
              <a:rPr lang="en-IN" sz="2200" dirty="0"/>
              <a:t> has 550,000+ users</a:t>
            </a:r>
          </a:p>
          <a:p>
            <a:r>
              <a:rPr lang="en-IN" sz="2200" dirty="0"/>
              <a:t> bcc8ca1f38fa8698b5a719e12022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4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20CA-A8B4-1841-1BB0-513544B0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9688513" algn="l"/>
              </a:tabLst>
            </a:pPr>
            <a:r>
              <a:rPr lang="en-IN" dirty="0"/>
              <a:t> 5. Main challenges left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C4E7FD-1573-F562-7945-10F7976A19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1135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2213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655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Quantum computers in 2026: where we're at + how they work</vt:lpstr>
      <vt:lpstr>1. What is a quantum computer?</vt:lpstr>
      <vt:lpstr>2. Where quantum stands right now in 2026</vt:lpstr>
      <vt:lpstr> 3. What can they actually do in 2026?</vt:lpstr>
      <vt:lpstr> 4. Why you should care</vt:lpstr>
      <vt:lpstr> 5. Main challenges left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MOUNICK KUMAR</dc:creator>
  <cp:lastModifiedBy>Kumar Amudala, Mounick (Contractor)</cp:lastModifiedBy>
  <cp:revision>3</cp:revision>
  <dcterms:created xsi:type="dcterms:W3CDTF">2026-04-19T16:27:09Z</dcterms:created>
  <dcterms:modified xsi:type="dcterms:W3CDTF">2026-04-19T16:52:23Z</dcterms:modified>
</cp:coreProperties>
</file>