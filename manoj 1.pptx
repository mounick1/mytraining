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94660"/>
  </p:normalViewPr>
  <p:slideViewPr>
    <p:cSldViewPr snapToGrid="0">
      <p:cViewPr varScale="1">
        <p:scale>
          <a:sx n="44" d="100"/>
          <a:sy n="44" d="100"/>
        </p:scale>
        <p:origin x="62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ABE9-A0B2-B59B-51CC-F5DCB210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3E380-7A3B-3812-1765-AC06E7DF0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2325-390C-035C-2E14-BEE7ECA9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73319-7178-3E18-C0FA-82C8B53D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AF48E-E828-DB83-8257-A07C5FFC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36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1AD54-7072-68B2-E8CD-68C9F234C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AB915-BB24-4D2C-3213-B3F0CE76E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4577B-E0C5-7063-280D-89EC5663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DE7CD-7251-A972-23DD-6E931D80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37A16-9037-5072-4357-10B079AC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FE412-6F4A-94CA-001E-F7F132EA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D9C1D-B4C9-551C-79ED-6AEE156EC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C6D45-D8D9-5A2B-495B-604E38FB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DAC1-235B-E155-BC6A-8CF27709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5176C-0F0A-86AD-56CC-18117BD6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37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937A0-269D-4968-D139-80BF0A5E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9649A-1A19-8EB9-C51B-1C5732541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2B5F9-0E7B-12DD-0936-24A8ECE35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5A439-F311-996F-134F-736B9E87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D833D-B6BE-A84B-DC0B-AFF478EE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0F818-F677-B10C-D3DD-B86C51B1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6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3B2F-3E09-0DA1-0C0A-EECC20F19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43936-AF26-AE2D-29D9-5B92BB39F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1B24B-C268-FD10-A160-CC38E1EAB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1BABD-5A69-7927-FDB8-EB3C48C96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0EE13-92D2-AD77-7AA3-1154EEA2A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FAC81-63C4-F305-4C67-EE02C00C1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1A462-C251-FA91-D77D-C8471190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30837-1618-4F2E-959A-85E8E584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358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7A87-08F8-BD74-5B08-80F09411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B1248-7084-B0C2-83F3-3ECB6074D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7E201-982D-E440-8666-BEC0B061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66363-92A8-E171-6C40-37F66F052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79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C2659-B54C-A323-E6BF-701AD7F5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F4837-5BCC-E5D9-9989-344D68B6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0AC9-E3BE-9751-7C61-EC99D96D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29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31321-7167-5D2E-DE8A-04E08C22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6F26-63A3-7C30-3127-B61B5858B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E28C8-000D-6024-F4B0-7346EF080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5CF4C-F3EC-CBDC-6CD7-61F38722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28AAE-C1D4-E989-F237-77406B32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FA6D-AFBD-5548-6CD5-AAB8112E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46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CE5C-FC15-CE79-95E0-3E05D341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8DFA3-51E7-A967-9D7A-0E6D38A91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F3616-EAAA-07F8-F321-F336E351F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C80CA-CFAC-9865-BB44-7FAAE837B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88A6-6241-30E7-EA31-3FE9AEE4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7CAD7-6794-BBE2-B4F5-47DEF6184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45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5A2F-B8BE-F252-2D05-10466D9CF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B3906-F2D8-6647-57E3-18F3E274B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A5DD4-9424-EFC4-C5F0-5A9690CE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C3E4E-3CCB-043C-669D-6F94F5EB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95B50-DEE2-F40D-A39C-0CEB7220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2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26332-4522-1570-3FD9-78A832CA1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02E92-EECF-F00D-B2DA-B3C21246F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42D15-DA64-B1BB-F6AA-EC7EA0AC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33593-44BB-F4A2-475B-DFA4B9C5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61995-E9C1-AC3F-3CED-FCB63786C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88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B95C1-D0CF-3BCF-EB4D-A89FA74A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A3FF2-B485-47CD-76D3-A2FE4524B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032E-6325-B9E2-C6A7-F95FCC5DE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ACBAA-F5A3-4ABD-82ED-D5881FD6986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7089B-B7DE-924A-62E8-93CB646CC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833A2-64CF-9864-1DC5-416657F44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7762F-90C0-4C49-933C-276DF28D2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7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A030-1C21-0173-A690-E816AD550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Quantum computers in 2026: where we're at + how they work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54193-750D-0426-77F5-CA6A1EB14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3007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/>
              <a:t>           Presented BY</a:t>
            </a:r>
          </a:p>
          <a:p>
            <a:r>
              <a:rPr lang="en-IN" dirty="0"/>
              <a:t>N. MANOJKUMAR</a:t>
            </a:r>
          </a:p>
          <a:p>
            <a:r>
              <a:rPr lang="en-IN" dirty="0"/>
              <a:t>G. NARASIMHULUG. </a:t>
            </a:r>
          </a:p>
          <a:p>
            <a:r>
              <a:rPr lang="en-IN" dirty="0"/>
              <a:t>T. KISHOR</a:t>
            </a:r>
          </a:p>
        </p:txBody>
      </p:sp>
    </p:spTree>
    <p:extLst>
      <p:ext uri="{BB962C8B-B14F-4D97-AF65-F5344CB8AC3E}">
        <p14:creationId xmlns:p14="http://schemas.microsoft.com/office/powerpoint/2010/main" val="2097833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8AC65-7EB3-A3AE-566B-AAB79808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What is a quantum computer?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D976D-A6E5-6472-86BD-FDFD9F5EF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Unlike your laptop that uses bits that are either 0 or 1, quantum computers use qubits. </a:t>
            </a:r>
          </a:p>
          <a:p>
            <a:endParaRPr lang="en-US" dirty="0"/>
          </a:p>
          <a:p>
            <a:r>
              <a:rPr lang="en-US" dirty="0"/>
              <a:t>Two weird quantum rules make qubits powerful:</a:t>
            </a:r>
          </a:p>
          <a:p>
            <a:r>
              <a:rPr lang="en-US" dirty="0"/>
              <a:t>- Superposition: A qubit can be 0, 1, or both at the same time. So a quantum computer can try many paths simultaneously instead of one-by-one</a:t>
            </a:r>
          </a:p>
          <a:p>
            <a:r>
              <a:rPr lang="en-US" dirty="0"/>
              <a:t>- Entanglement: Qubits can be linked so changing one instantly affects another, letting the computer act on all particles at once</a:t>
            </a:r>
          </a:p>
          <a:p>
            <a:r>
              <a:rPr lang="en-US" dirty="0"/>
              <a:t> bcc8199919c3</a:t>
            </a:r>
          </a:p>
          <a:p>
            <a:r>
              <a:rPr lang="en-US" dirty="0"/>
              <a:t>Analogy: A classical computer solving a maze tries one path at a time. A quantum computer tries many paths in parallel.</a:t>
            </a:r>
          </a:p>
          <a:p>
            <a:endParaRPr lang="en-US" dirty="0"/>
          </a:p>
          <a:p>
            <a:r>
              <a:rPr lang="en-US" dirty="0"/>
              <a:t>Important: Quantum computers aren’t general-purpose replacements. They’re specialized co-processors for specific high-complexity problems. Most near-term use is hybrid quantum-classical: quantum handles the hardest sub-problems, classical handles the rest.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7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F46AF-879D-E657-C541-873F945C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Where quantum stands right now in 2026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A37A-02EB-537E-391E-7FF43F20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Hardware progress:</a:t>
            </a:r>
          </a:p>
          <a:p>
            <a:r>
              <a:rPr lang="en-IN" dirty="0"/>
              <a:t>- Google Willow chip: 105 qubits, demonstrated "below threshold" error correction. Error rate halved when scaling from 3x3 to 5x5 to 7x7 qubit grids</a:t>
            </a:r>
          </a:p>
          <a:p>
            <a:r>
              <a:rPr lang="en-IN" dirty="0"/>
              <a:t>- IBM Nighthawk: Running circuits with 5,000 two-qubit gates. IBM targets 2029 for first fault-tolerant quantum supercomputer "Starling" with 20,000x today's processing power</a:t>
            </a:r>
          </a:p>
          <a:p>
            <a:r>
              <a:rPr lang="en-IN" dirty="0"/>
              <a:t>- Neutral atoms: Caltech built 6,100 qubit array, largest to date. Microsoft + Atom Computing plan error-corrected systems for customers in 2026</a:t>
            </a:r>
          </a:p>
          <a:p>
            <a:r>
              <a:rPr lang="en-IN" dirty="0"/>
              <a:t>- Trapped ions: Duke building 96-qubit system by 2027, up from 32 qubits</a:t>
            </a:r>
          </a:p>
          <a:p>
            <a:r>
              <a:rPr lang="en-IN" dirty="0"/>
              <a:t> 19992022ca1fbcc8b5a782438109</a:t>
            </a:r>
          </a:p>
          <a:p>
            <a:r>
              <a:rPr lang="en-IN" dirty="0"/>
              <a:t>Error correction levels:</a:t>
            </a:r>
          </a:p>
          <a:p>
            <a:r>
              <a:rPr lang="en-IN" dirty="0"/>
              <a:t>- Level 1 - NISQ: ∼1,000 noisy, error-prone qubits. This is where we were.</a:t>
            </a:r>
          </a:p>
          <a:p>
            <a:r>
              <a:rPr lang="en-IN" dirty="0"/>
              <a:t>- Level 2: Small machines that detect/correct errors. 2026 is when customers finally get Level-2 machines</a:t>
            </a:r>
          </a:p>
          <a:p>
            <a:r>
              <a:rPr lang="en-IN" dirty="0"/>
              <a:t>- Level 3: Millions of qubits, fault-tolerant, high fidelity. Still years out.</a:t>
            </a:r>
          </a:p>
          <a:p>
            <a:r>
              <a:rPr lang="en-IN" dirty="0"/>
              <a:t> 8243</a:t>
            </a:r>
          </a:p>
          <a:p>
            <a:r>
              <a:rPr lang="en-IN" dirty="0"/>
              <a:t>Industry scale: Over $1B annual revenue now, $54B+ cumulative government investment worldwide. Quantum stocks up in 2026.</a:t>
            </a:r>
          </a:p>
        </p:txBody>
      </p:sp>
    </p:spTree>
    <p:extLst>
      <p:ext uri="{BB962C8B-B14F-4D97-AF65-F5344CB8AC3E}">
        <p14:creationId xmlns:p14="http://schemas.microsoft.com/office/powerpoint/2010/main" val="61502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BC78-DDAA-9D27-671F-C7123A05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3. What can they actually do in 2026?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87A0C-1FFC-61C3-6373-75D9871D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Quantum advantage expected 2026: IBM says quantum advantage happens this year, starting with chemistry. Not replacing supercomputers, but solving specific problems classical can't.</a:t>
            </a:r>
          </a:p>
          <a:p>
            <a:endParaRPr lang="en-US" dirty="0"/>
          </a:p>
          <a:p>
            <a:r>
              <a:rPr lang="en-US" dirty="0"/>
              <a:t>Chemistry: Calculating molecule structure/energies is intrinsically quantum. 2026 may be the year we start using quantum computers for chemistry. IBM/RIKEN already modeled molecules with </a:t>
            </a:r>
            <a:r>
              <a:rPr lang="en-US" dirty="0" err="1"/>
              <a:t>quantum+supercomputer</a:t>
            </a:r>
            <a:r>
              <a:rPr lang="en-US" dirty="0"/>
              <a:t> in 2025.</a:t>
            </a:r>
          </a:p>
          <a:p>
            <a:endParaRPr lang="en-US" dirty="0"/>
          </a:p>
          <a:p>
            <a:r>
              <a:rPr lang="en-US" dirty="0"/>
              <a:t>Not usable broadly yet: Won't be "truly usable" until broadly commercialized and scaled. Need fault-tolerant machines that work even when components fail.</a:t>
            </a:r>
          </a:p>
          <a:p>
            <a:endParaRPr lang="en-US" dirty="0"/>
          </a:p>
          <a:p>
            <a:r>
              <a:rPr lang="en-US" dirty="0"/>
              <a:t>Timeline: Growing hope that usable machines solving complex tasks like chemical reactions or encryption could arrive in next 10 years. Nature says usable quantum computers could be here in a decade.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00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12BE-0C7A-90D3-BE62-AA1505F6B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4. Why you should care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079F-2073-691E-9D49-6487B77C0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- Cybersecurity: Quantum threatens current encryption. Post-quantum cryptography migration needed now for long-lived sensitive data</a:t>
            </a:r>
          </a:p>
          <a:p>
            <a:r>
              <a:rPr lang="en-IN" dirty="0"/>
              <a:t>- Materials &amp; Pharma: Design new drugs/materials by simulating molecules exactly</a:t>
            </a:r>
          </a:p>
          <a:p>
            <a:r>
              <a:rPr lang="en-IN" dirty="0"/>
              <a:t>- Optimization: Logistics, finance, AI training</a:t>
            </a:r>
          </a:p>
          <a:p>
            <a:r>
              <a:rPr lang="en-IN" dirty="0"/>
              <a:t>- Access: You can run quantum circuits today via cloud: IBM Quantum, AWS </a:t>
            </a:r>
            <a:r>
              <a:rPr lang="en-IN" dirty="0" err="1"/>
              <a:t>Braket</a:t>
            </a:r>
            <a:r>
              <a:rPr lang="en-IN" dirty="0"/>
              <a:t>, Azure Quantum. </a:t>
            </a:r>
            <a:r>
              <a:rPr lang="en-IN" dirty="0" err="1"/>
              <a:t>Qiskit</a:t>
            </a:r>
            <a:r>
              <a:rPr lang="en-IN" dirty="0"/>
              <a:t> has 550,000+ users</a:t>
            </a:r>
          </a:p>
          <a:p>
            <a:r>
              <a:rPr lang="en-IN" dirty="0"/>
              <a:t> bcc8ca1f38fa8698b5a719e12022</a:t>
            </a:r>
          </a:p>
        </p:txBody>
      </p:sp>
    </p:spTree>
    <p:extLst>
      <p:ext uri="{BB962C8B-B14F-4D97-AF65-F5344CB8AC3E}">
        <p14:creationId xmlns:p14="http://schemas.microsoft.com/office/powerpoint/2010/main" val="50804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20CA-A8B4-1841-1BB0-513544B0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9688513" algn="l"/>
              </a:tabLst>
            </a:pPr>
            <a:r>
              <a:rPr lang="en-IN" dirty="0"/>
              <a:t> 5. Main challenges left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3E0C1-9CA9-D884-A8FB-20A5C3DA1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Qubits are fragile. Heat, electromagnetic interference, anything in the environment can throw quantum states into disarray and cause errors. That's why error correction is the big breakthrough happening now.</a:t>
            </a:r>
          </a:p>
          <a:p>
            <a:endParaRPr lang="en-US" dirty="0"/>
          </a:p>
          <a:p>
            <a:r>
              <a:rPr lang="en-US" dirty="0"/>
              <a:t>Bottom line: 2026 is the inflection point. We’re moving from noisy lab experiments to early error-corrected systems customers can use. True fault-tolerant, large-scale machines are still ∼2029+, but specific advantages in chemistry and optimization start this year.</a:t>
            </a:r>
          </a:p>
          <a:p>
            <a:endParaRPr lang="en-US" dirty="0"/>
          </a:p>
          <a:p>
            <a:r>
              <a:rPr lang="en-US" dirty="0"/>
              <a:t>Want me to dive deeper into how qubits are physically made, or what "quantum advantage" means for your field? b5a7ca1fd964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213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688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Quantum computers in 2026: where we're at + how they work</vt:lpstr>
      <vt:lpstr>1. What is a quantum computer?</vt:lpstr>
      <vt:lpstr>2. Where quantum stands right now in 2026</vt:lpstr>
      <vt:lpstr> 3. What can they actually do in 2026?</vt:lpstr>
      <vt:lpstr> 4. Why you should care</vt:lpstr>
      <vt:lpstr> 5. Main challenges left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MOUNICK KUMAR</dc:creator>
  <cp:lastModifiedBy>MOUNICK KUMAR</cp:lastModifiedBy>
  <cp:revision>2</cp:revision>
  <dcterms:created xsi:type="dcterms:W3CDTF">2026-04-19T16:27:09Z</dcterms:created>
  <dcterms:modified xsi:type="dcterms:W3CDTF">2026-04-19T16:29:03Z</dcterms:modified>
</cp:coreProperties>
</file>